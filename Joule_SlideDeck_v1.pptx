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7682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6080402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56222237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80469040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0532304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8090589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3256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6359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1987764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907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14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307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0BBBD-4FA7-2FE1-958E-3F8A40CDDA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743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458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052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8B7ED9-A1C5-B3BE-9B3E-DF7FA38F92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378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8849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297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BFAAB8-229F-6529-D951-D50D3FB314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534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00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8397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FA7F66-2DA1-DE39-8FCF-AB50E3C6A0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37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414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992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6A8698-D545-D798-18F1-378B2C3197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29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8615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899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C0A6AC-7D75-59A4-3517-0651810708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296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376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79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317721-ECF3-7340-E9B0-8F9AB44F92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270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1279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744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48DD4F-CBEC-8FFC-5C04-89CBAA90C8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5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4675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3346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B1F91-54FA-4A48-BB73-C0B31EFD8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98030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519695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225101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775816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00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7606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221413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887873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1227031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180521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1107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697831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071787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170586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1686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7215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296765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819355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890126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23277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4884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984392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9780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63381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4142011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433163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6678947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120047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82411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5827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0380110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3899770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468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04523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936998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42367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22730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24576399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63765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031945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0236166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3206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612425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9088642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34372663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194038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010913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2986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0006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363389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60211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0461391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026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58761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375553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67199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590634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5550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56063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22193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872590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59370292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802302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241491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en" sz="4800">
                <a:latin typeface="Inter"/>
                <a:ea typeface="Inter"/>
                <a:cs typeface="Inter"/>
              </a:rPr>
              <a:t>Joule</a:t>
            </a:r>
            <a:br>
              <a:rPr lang="en" sz="4800">
                <a:latin typeface="Arial"/>
                <a:ea typeface="Arial"/>
                <a:cs typeface="Arial"/>
              </a:rPr>
            </a:br>
            <a:br>
              <a:rPr lang="en" sz="4800">
                <a:latin typeface="Arial"/>
                <a:ea typeface="Arial"/>
                <a:cs typeface="Arial"/>
              </a:rPr>
            </a:br>
            <a:r>
              <a:rPr lang="en" sz="4800">
                <a:latin typeface="Arial"/>
                <a:ea typeface="Arial"/>
                <a:cs typeface="Arial"/>
              </a:rPr>
              <a:t>Dynamic Power Envelope Management for Compute Clusters</a:t>
            </a:r>
            <a:endParaRPr>
              <a:latin typeface="Arial"/>
              <a:cs typeface="Arial"/>
            </a:endParaRPr>
          </a:p>
        </p:txBody>
      </p:sp>
      <p:sp>
        <p:nvSpPr>
          <p:cNvPr id="95597124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"/>
              <a:t>Finn Wicks</a:t>
            </a:r>
            <a:endParaRPr lang="en"/>
          </a:p>
          <a:p>
            <a:pPr algn="ctr">
              <a:defRPr/>
            </a:pPr>
            <a:r>
              <a:rPr lang="en"/>
              <a:t>March 2026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4470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Static Power Limits Waste Compute Capacity</a:t>
            </a:r>
            <a:endParaRPr/>
          </a:p>
        </p:txBody>
      </p:sp>
      <p:sp>
        <p:nvSpPr>
          <p:cNvPr id="11195211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>
              <a:defRPr/>
            </a:pP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Real workloads fluctuate significantly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Static limits leave ~10-20% power unused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10% unused power =&gt; ~10% lost compute</a:t>
            </a:r>
            <a:endParaRPr/>
          </a:p>
        </p:txBody>
      </p:sp>
      <p:pic>
        <p:nvPicPr>
          <p:cNvPr id="3162302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33824" y="1690686"/>
            <a:ext cx="5562173" cy="4171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26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Unused Power Limits Compute Throughput</a:t>
            </a:r>
            <a:endParaRPr/>
          </a:p>
        </p:txBody>
      </p:sp>
      <p:sp>
        <p:nvSpPr>
          <p:cNvPr id="152239395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 workloads fluctuate significantly</a:t>
            </a:r>
            <a:endParaRPr sz="2100"/>
          </a:p>
          <a:p>
            <a:pPr>
              <a:defRPr/>
            </a:pPr>
            <a:endParaRPr sz="2100"/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 limits leave 10-20% of power unused</a:t>
            </a:r>
            <a:endParaRPr sz="2100"/>
          </a:p>
          <a:p>
            <a:pPr>
              <a:defRPr/>
            </a:pPr>
            <a:endParaRPr sz="2100"/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Power-constrained clusters lose potential compute</a:t>
            </a:r>
            <a:endParaRPr sz="2100"/>
          </a:p>
          <a:p>
            <a:pPr>
              <a:defRPr/>
            </a:pPr>
            <a:endParaRPr sz="2100"/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10% unused power = huge lost capacity</a:t>
            </a:r>
            <a:endParaRPr sz="2100"/>
          </a:p>
          <a:p>
            <a:pPr>
              <a:defRPr/>
            </a:pPr>
            <a:endParaRPr/>
          </a:p>
        </p:txBody>
      </p:sp>
      <p:sp>
        <p:nvSpPr>
          <p:cNvPr id="735556636" name="Content Placeholder 2"/>
          <p:cNvSpPr>
            <a:spLocks noGrp="1"/>
          </p:cNvSpPr>
          <p:nvPr/>
        </p:nvSpPr>
        <p:spPr bwMode="auto">
          <a:xfrm>
            <a:off x="6172200" y="1825625"/>
            <a:ext cx="5181599" cy="4351338"/>
          </a:xfr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9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4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20742936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19797" y="1690686"/>
            <a:ext cx="5585515" cy="418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6726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Joule Dynamically Allocates Power</a:t>
            </a:r>
            <a:endParaRPr/>
          </a:p>
        </p:txBody>
      </p:sp>
      <p:sp>
        <p:nvSpPr>
          <p:cNvPr id="10884037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"/>
              <a:t>Treats power as a shared cluster resource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Continuously adjusts node power limits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Maintains strict compliance with a global power cap</a:t>
            </a:r>
            <a:endParaRPr/>
          </a:p>
        </p:txBody>
      </p:sp>
      <p:pic>
        <p:nvPicPr>
          <p:cNvPr id="1790523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901133" y="1690686"/>
            <a:ext cx="3704844" cy="4138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5610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Controlled Evaluation</a:t>
            </a:r>
            <a:endParaRPr/>
          </a:p>
        </p:txBody>
      </p:sp>
      <p:sp>
        <p:nvSpPr>
          <p:cNvPr id="11475666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"/>
              <a:t>Multi-node compute cluster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Mixed compute workloads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Multiple power-cap levels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Six-hour runs per configuration</a:t>
            </a:r>
            <a:endParaRPr/>
          </a:p>
        </p:txBody>
      </p:sp>
      <p:sp>
        <p:nvSpPr>
          <p:cNvPr id="5289300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Same Hardware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Same Workloads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Same Power Cap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               |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--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----------------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---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--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--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|                                |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Baseline Run             Joule Run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Static Power Caps   Dynamic Control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  |                                |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----------- Compare ----------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          Utilisation &amp; Throughput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9226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Joule Tracks the Power Cap with Near-Perfect Precision</a:t>
            </a:r>
            <a:endParaRPr/>
          </a:p>
        </p:txBody>
      </p:sp>
      <p:sp>
        <p:nvSpPr>
          <p:cNvPr id="8035971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Joule dynamically adjusts node power limits to keep 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cluster power near the configured envelope.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Baseline leaves significant power headroom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Joule tracks the envelope with &lt;1W error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Zero cap violations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464000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7992" y="1825624"/>
            <a:ext cx="5738007" cy="4303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2762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Dynamic Power Allocation Increases Throughput</a:t>
            </a:r>
            <a:endParaRPr/>
          </a:p>
        </p:txBody>
      </p:sp>
      <p:sp>
        <p:nvSpPr>
          <p:cNvPr id="39511574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8" cy="4351338"/>
          </a:xfrm>
        </p:spPr>
        <p:txBody>
          <a:bodyPr/>
          <a:lstStyle/>
          <a:p>
            <a:pPr>
              <a:defRPr/>
            </a:pP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Dynamic power control converts unused headroom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into 5–12% more compute.</a:t>
            </a:r>
            <a:endParaRPr lang="en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95363119" name="Content Placeholder 3"/>
          <p:cNvSpPr>
            <a:spLocks noGrp="1"/>
          </p:cNvSpPr>
          <p:nvPr/>
        </p:nvSpPr>
        <p:spPr bwMode="auto">
          <a:xfrm>
            <a:off x="838198" y="1978024"/>
            <a:ext cx="5181598" cy="4351338"/>
          </a:xfr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>
              <a:lnSpc>
                <a:spcPct val="90000"/>
              </a:lnSpc>
              <a:spcBef>
                <a:spcPts val="748"/>
              </a:spcBef>
              <a:buFont typeface="Arial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>
              <a:lnSpc>
                <a:spcPct val="90000"/>
              </a:lnSpc>
              <a:spcBef>
                <a:spcPts val="373"/>
              </a:spcBef>
              <a:buFont typeface="Arial"/>
              <a:buChar char="•"/>
              <a:defRPr sz="13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/>
          </a:p>
        </p:txBody>
      </p:sp>
      <p:graphicFrame>
        <p:nvGraphicFramePr>
          <p:cNvPr id="1505438133" name=""/>
          <p:cNvGraphicFramePr>
            <a:graphicFrameLocks xmlns:a="http://schemas.openxmlformats.org/drawingml/2006/main"/>
          </p:cNvGraphicFramePr>
          <p:nvPr/>
        </p:nvGraphicFramePr>
        <p:xfrm>
          <a:off x="589720" y="2260599"/>
          <a:ext cx="5257800" cy="282588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737014"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Cap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Baseline Utilisation (%)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Joule Utilisation (%)</a:t>
                      </a:r>
                      <a:endParaRPr sz="1800"/>
                    </a:p>
                  </a:txBody>
                  <a:tcPr/>
                </a:tc>
              </a:tr>
              <a:tr h="522219"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20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83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99</a:t>
                      </a:r>
                      <a:endParaRPr sz="1800"/>
                    </a:p>
                  </a:txBody>
                  <a:tcPr/>
                </a:tc>
              </a:tr>
              <a:tr h="522219"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25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79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99</a:t>
                      </a:r>
                      <a:endParaRPr sz="1800"/>
                    </a:p>
                  </a:txBody>
                  <a:tcPr/>
                </a:tc>
              </a:tr>
              <a:tr h="522219"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30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79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98</a:t>
                      </a:r>
                      <a:endParaRPr sz="1800"/>
                    </a:p>
                  </a:txBody>
                  <a:tcPr/>
                </a:tc>
              </a:tr>
              <a:tr h="522219"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35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86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" sz="1800"/>
                        <a:t>97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3501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Power Is the Limiting Resource</a:t>
            </a:r>
            <a:endParaRPr/>
          </a:p>
        </p:txBody>
      </p:sp>
      <p:sp>
        <p:nvSpPr>
          <p:cNvPr id="29484757" name="Content Placeholder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Power Is the Primary Constraint</a:t>
            </a: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Datacentr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</a:t>
            </a: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 increasingly limited by electrical capacity</a:t>
            </a: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Example:</a:t>
            </a: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100 MW datacent</a:t>
            </a:r>
            <a:r>
              <a:rPr lang="en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</a:t>
            </a: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10% utilization improvement</a:t>
            </a: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= 10 MW additional compute capacity</a:t>
            </a: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1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Joule increases usable compute under fixed power limits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4351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Roadmap</a:t>
            </a:r>
            <a:endParaRPr/>
          </a:p>
        </p:txBody>
      </p:sp>
      <p:sp>
        <p:nvSpPr>
          <p:cNvPr id="106289201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Current</a:t>
            </a: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Prototype validation (v0.96)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ext</a:t>
            </a: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Cluster-scale deployment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GPU power interfaces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Scheduler integration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Future</a:t>
            </a: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Rack-level envelopes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Datacent</a:t>
            </a: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</a:t>
            </a:r>
            <a:r>
              <a:rPr lang="en-GB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-scale power management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862456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>
              <a:defRPr/>
            </a:pPr>
            <a:r>
              <a:rPr lang="en"/>
              <a:t>Expand node scaling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GPU power interfaces</a:t>
            </a:r>
            <a:endParaRPr lang="en"/>
          </a:p>
          <a:p>
            <a:pPr>
              <a:defRPr/>
            </a:pPr>
            <a:endParaRPr/>
          </a:p>
          <a:p>
            <a:pPr>
              <a:defRPr/>
            </a:pPr>
            <a:r>
              <a:rPr lang="en"/>
              <a:t>Integration with cluster scheduleres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60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"/>
              <a:t>Next Step</a:t>
            </a:r>
            <a:endParaRPr/>
          </a:p>
        </p:txBody>
      </p:sp>
      <p:sp>
        <p:nvSpPr>
          <p:cNvPr id="3305211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lang="en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n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Deploy Joule on GPU clusters</a:t>
            </a:r>
            <a:endParaRPr lang="en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en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Seeking:</a:t>
            </a:r>
            <a:endParaRPr lang="en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Funding for cluster-scale evaluation</a:t>
            </a:r>
            <a:endParaRPr lang="en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n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• Industry partners for pilot deployments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2026-03-08T07:47:30Z</dcterms:modified>
</cp:coreProperties>
</file>